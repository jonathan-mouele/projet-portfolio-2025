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Montserrat"/>
      <p:bold r:id="rId13"/>
      <p:boldItalic r:id="rId14"/>
    </p:embeddedFont>
    <p:embeddedFont>
      <p:font typeface="Open Sans SemiBold"/>
      <p:regular r:id="rId15"/>
      <p:bold r:id="rId16"/>
      <p:italic r:id="rId17"/>
      <p:boldItalic r:id="rId18"/>
    </p:embeddedFont>
    <p:embeddedFont>
      <p:font typeface="Open Sans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bold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SemiBold-regular.fntdata"/><Relationship Id="rId14" Type="http://schemas.openxmlformats.org/officeDocument/2006/relationships/font" Target="fonts/Montserrat-boldItalic.fntdata"/><Relationship Id="rId17" Type="http://schemas.openxmlformats.org/officeDocument/2006/relationships/font" Target="fonts/OpenSansSemiBold-italic.fntdata"/><Relationship Id="rId16" Type="http://schemas.openxmlformats.org/officeDocument/2006/relationships/font" Target="fonts/OpenSansSemiBold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.fntdata"/><Relationship Id="rId6" Type="http://schemas.openxmlformats.org/officeDocument/2006/relationships/slide" Target="slides/slide1.xml"/><Relationship Id="rId18" Type="http://schemas.openxmlformats.org/officeDocument/2006/relationships/font" Target="fonts/OpenSans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3e69e2e31_57_3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e3e69e2e31_57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3e69e2e31_57_3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e3e69e2e31_57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2000" cy="38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13"/>
          <p:cNvGrpSpPr/>
          <p:nvPr/>
        </p:nvGrpSpPr>
        <p:grpSpPr>
          <a:xfrm>
            <a:off x="762000" y="571500"/>
            <a:ext cx="2857500" cy="381000"/>
            <a:chOff x="762000" y="571500"/>
            <a:chExt cx="2857500" cy="381000"/>
          </a:xfrm>
        </p:grpSpPr>
        <p:sp>
          <p:nvSpPr>
            <p:cNvPr id="86" name="Google Shape;86;p13"/>
            <p:cNvSpPr/>
            <p:nvPr/>
          </p:nvSpPr>
          <p:spPr>
            <a:xfrm>
              <a:off x="762000" y="571500"/>
              <a:ext cx="2857500" cy="381000"/>
            </a:xfrm>
            <a:prstGeom prst="roundRect">
              <a:avLst>
                <a:gd fmla="val 50000" name="adj"/>
              </a:avLst>
            </a:prstGeom>
            <a:solidFill>
              <a:srgbClr val="EAB30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 txBox="1"/>
            <p:nvPr/>
          </p:nvSpPr>
          <p:spPr>
            <a:xfrm>
              <a:off x="762000" y="57150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3A8A"/>
                  </a:solidFill>
                  <a:latin typeface="Open Sans"/>
                  <a:ea typeface="Open Sans"/>
                  <a:cs typeface="Open Sans"/>
                  <a:sym typeface="Open Sans"/>
                </a:rPr>
                <a:t>SOUTENANCE E5 - BTS SIO</a:t>
              </a:r>
              <a:endParaRPr b="1" sz="1400">
                <a:solidFill>
                  <a:srgbClr val="1E3A8A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88" name="Google Shape;88;p13"/>
          <p:cNvSpPr txBox="1"/>
          <p:nvPr/>
        </p:nvSpPr>
        <p:spPr>
          <a:xfrm>
            <a:off x="762000" y="1333500"/>
            <a:ext cx="10668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PRÉSENTATION DE</a:t>
            </a:r>
            <a:endParaRPr b="1" sz="544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STAGE PRATIQUE</a:t>
            </a:r>
            <a:endParaRPr b="1" sz="544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762000" y="3238500"/>
            <a:ext cx="1143000" cy="762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" name="Google Shape;90;p13"/>
          <p:cNvGrpSpPr/>
          <p:nvPr/>
        </p:nvGrpSpPr>
        <p:grpSpPr>
          <a:xfrm>
            <a:off x="762000" y="4191000"/>
            <a:ext cx="10668000" cy="1905000"/>
            <a:chOff x="762000" y="4191000"/>
            <a:chExt cx="10668000" cy="1905000"/>
          </a:xfrm>
        </p:grpSpPr>
        <p:sp>
          <p:nvSpPr>
            <p:cNvPr id="91" name="Google Shape;91;p13"/>
            <p:cNvSpPr/>
            <p:nvPr/>
          </p:nvSpPr>
          <p:spPr>
            <a:xfrm>
              <a:off x="762000" y="4191000"/>
              <a:ext cx="10668000" cy="1905000"/>
            </a:xfrm>
            <a:prstGeom prst="roundRect">
              <a:avLst>
                <a:gd fmla="val 7500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 txBox="1"/>
            <p:nvPr/>
          </p:nvSpPr>
          <p:spPr>
            <a:xfrm>
              <a:off x="1143000" y="4476750"/>
              <a:ext cx="9906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1E3A8A"/>
                  </a:solidFill>
                  <a:latin typeface="Open Sans"/>
                  <a:ea typeface="Open Sans"/>
                  <a:cs typeface="Open Sans"/>
                  <a:sym typeface="Open Sans"/>
                </a:rPr>
                <a:t>Jonathan Dieudonné MOUELE</a:t>
              </a:r>
              <a:endParaRPr b="1" sz="3200">
                <a:solidFill>
                  <a:srgbClr val="1E3A8A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1143000" y="5143500"/>
              <a:ext cx="990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Stage 2 : </a:t>
              </a:r>
              <a:r>
                <a:rPr b="0" lang="en-US" sz="1800">
                  <a:solidFill>
                    <a:srgbClr val="1E3A8A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rPr>
                <a:t>Talent Consulting Services (TCS)</a:t>
              </a:r>
              <a:endParaRPr b="0" sz="18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94" name="Google Shape;94;p13"/>
          <p:cNvSpPr txBox="1"/>
          <p:nvPr/>
        </p:nvSpPr>
        <p:spPr>
          <a:xfrm>
            <a:off x="10477500" y="4784979"/>
            <a:ext cx="57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20">
                <a:solidFill>
                  <a:srgbClr val="CBD5E1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badge</a:t>
            </a:r>
            <a:endParaRPr sz="3720">
              <a:solidFill>
                <a:srgbClr val="CBD5E1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0" y="0"/>
            <a:ext cx="12192000" cy="38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" name="Google Shape;100;p14"/>
          <p:cNvGrpSpPr/>
          <p:nvPr/>
        </p:nvGrpSpPr>
        <p:grpSpPr>
          <a:xfrm>
            <a:off x="762000" y="571500"/>
            <a:ext cx="2857500" cy="381000"/>
            <a:chOff x="762000" y="571500"/>
            <a:chExt cx="2857500" cy="381000"/>
          </a:xfrm>
        </p:grpSpPr>
        <p:sp>
          <p:nvSpPr>
            <p:cNvPr id="101" name="Google Shape;101;p14"/>
            <p:cNvSpPr/>
            <p:nvPr/>
          </p:nvSpPr>
          <p:spPr>
            <a:xfrm>
              <a:off x="762000" y="571500"/>
              <a:ext cx="2857500" cy="381000"/>
            </a:xfrm>
            <a:prstGeom prst="roundRect">
              <a:avLst>
                <a:gd fmla="val 50000" name="adj"/>
              </a:avLst>
            </a:prstGeom>
            <a:solidFill>
              <a:srgbClr val="EAB30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762000" y="57150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3A8A"/>
                  </a:solidFill>
                  <a:latin typeface="Open Sans"/>
                  <a:ea typeface="Open Sans"/>
                  <a:cs typeface="Open Sans"/>
                  <a:sym typeface="Open Sans"/>
                </a:rPr>
                <a:t>STAGE 2 : CONSEIL &amp; ESN</a:t>
              </a:r>
              <a:endParaRPr b="1" sz="1400">
                <a:solidFill>
                  <a:srgbClr val="1E3A8A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03" name="Google Shape;103;p14"/>
          <p:cNvSpPr txBox="1"/>
          <p:nvPr/>
        </p:nvSpPr>
        <p:spPr>
          <a:xfrm>
            <a:off x="762000" y="1333500"/>
            <a:ext cx="1066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FICHE D'IDENTITÉ : TCS</a:t>
            </a:r>
            <a:endParaRPr b="1" sz="5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762000" y="2571750"/>
            <a:ext cx="1143000" cy="762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" name="Google Shape;105;p14"/>
          <p:cNvGrpSpPr/>
          <p:nvPr/>
        </p:nvGrpSpPr>
        <p:grpSpPr>
          <a:xfrm>
            <a:off x="762000" y="3048000"/>
            <a:ext cx="10668000" cy="3238500"/>
            <a:chOff x="762000" y="3048000"/>
            <a:chExt cx="10668000" cy="3238500"/>
          </a:xfrm>
        </p:grpSpPr>
        <p:sp>
          <p:nvSpPr>
            <p:cNvPr id="106" name="Google Shape;106;p14"/>
            <p:cNvSpPr/>
            <p:nvPr/>
          </p:nvSpPr>
          <p:spPr>
            <a:xfrm>
              <a:off x="762000" y="3048000"/>
              <a:ext cx="10668000" cy="3238500"/>
            </a:xfrm>
            <a:prstGeom prst="roundRect">
              <a:avLst>
                <a:gd fmla="val 4411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4"/>
            <p:cNvSpPr txBox="1"/>
            <p:nvPr/>
          </p:nvSpPr>
          <p:spPr>
            <a:xfrm>
              <a:off x="1143000" y="3333750"/>
              <a:ext cx="571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TCS accompagne les entreprises dans la structuration et l'organisation de leurs solutions informatiques.</a:t>
              </a:r>
              <a:endParaRPr b="0" sz="16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8" name="Google Shape;108;p14"/>
            <p:cNvSpPr txBox="1"/>
            <p:nvPr/>
          </p:nvSpPr>
          <p:spPr>
            <a:xfrm>
              <a:off x="1143000" y="4095750"/>
              <a:ext cx="4762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NOM</a:t>
              </a:r>
              <a:endParaRPr b="1" sz="12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E3A8A"/>
                  </a:solidFill>
                  <a:latin typeface="Open Sans"/>
                  <a:ea typeface="Open Sans"/>
                  <a:cs typeface="Open Sans"/>
                  <a:sym typeface="Open Sans"/>
                </a:rPr>
                <a:t>Talent Consulting Services</a:t>
              </a:r>
              <a:endParaRPr b="1" sz="2400">
                <a:solidFill>
                  <a:srgbClr val="1E3A8A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9" name="Google Shape;109;p14"/>
            <p:cNvSpPr txBox="1"/>
            <p:nvPr/>
          </p:nvSpPr>
          <p:spPr>
            <a:xfrm>
              <a:off x="1143000" y="5048250"/>
              <a:ext cx="4762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MISSION</a:t>
              </a:r>
              <a:endParaRPr b="1" sz="12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E3A8A"/>
                  </a:solidFill>
                  <a:latin typeface="Open Sans"/>
                  <a:ea typeface="Open Sans"/>
                  <a:cs typeface="Open Sans"/>
                  <a:sym typeface="Open Sans"/>
                </a:rPr>
                <a:t>Audit, Conseil et Solutions Réseaux</a:t>
              </a:r>
              <a:endParaRPr b="1" sz="2000">
                <a:solidFill>
                  <a:srgbClr val="1E3A8A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110" name="Google Shape;110;p14"/>
          <p:cNvPicPr preferRelativeResize="0"/>
          <p:nvPr/>
        </p:nvPicPr>
        <p:blipFill rotWithShape="1">
          <a:blip r:embed="rId3">
            <a:alphaModFix/>
          </a:blip>
          <a:srcRect b="0" l="34420" r="34420" t="0"/>
          <a:stretch/>
        </p:blipFill>
        <p:spPr>
          <a:xfrm>
            <a:off x="8096250" y="3524250"/>
            <a:ext cx="2857500" cy="2286000"/>
          </a:xfrm>
          <a:prstGeom prst="roundRect">
            <a:avLst>
              <a:gd fmla="val 4166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81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" name="Google Shape;116;p15"/>
          <p:cNvGrpSpPr/>
          <p:nvPr/>
        </p:nvGrpSpPr>
        <p:grpSpPr>
          <a:xfrm>
            <a:off x="762000" y="571500"/>
            <a:ext cx="2857500" cy="381000"/>
            <a:chOff x="762000" y="571500"/>
            <a:chExt cx="2857500" cy="381000"/>
          </a:xfrm>
        </p:grpSpPr>
        <p:sp>
          <p:nvSpPr>
            <p:cNvPr id="117" name="Google Shape;117;p15"/>
            <p:cNvSpPr/>
            <p:nvPr/>
          </p:nvSpPr>
          <p:spPr>
            <a:xfrm>
              <a:off x="762000" y="571500"/>
              <a:ext cx="2857500" cy="381000"/>
            </a:xfrm>
            <a:prstGeom prst="roundRect">
              <a:avLst>
                <a:gd fmla="val 50000" name="adj"/>
              </a:avLst>
            </a:prstGeom>
            <a:solidFill>
              <a:srgbClr val="EAB30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5"/>
            <p:cNvSpPr txBox="1"/>
            <p:nvPr/>
          </p:nvSpPr>
          <p:spPr>
            <a:xfrm>
              <a:off x="762000" y="57150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3A8A"/>
                  </a:solidFill>
                  <a:latin typeface="Open Sans"/>
                  <a:ea typeface="Open Sans"/>
                  <a:cs typeface="Open Sans"/>
                  <a:sym typeface="Open Sans"/>
                </a:rPr>
                <a:t>STAGE 2 : CONSEIL &amp; ESN</a:t>
              </a:r>
              <a:endParaRPr b="1" sz="1400">
                <a:solidFill>
                  <a:srgbClr val="1E3A8A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19" name="Google Shape;119;p15"/>
          <p:cNvSpPr txBox="1"/>
          <p:nvPr/>
        </p:nvSpPr>
        <p:spPr>
          <a:xfrm>
            <a:off x="762000" y="1333500"/>
            <a:ext cx="10668000" cy="83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STRUCTURE PROJET</a:t>
            </a:r>
            <a:endParaRPr b="1" sz="5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762000" y="2571750"/>
            <a:ext cx="1143000" cy="762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762000" y="3048000"/>
            <a:ext cx="10668000" cy="3238500"/>
          </a:xfrm>
          <a:prstGeom prst="roundRect">
            <a:avLst>
              <a:gd fmla="val 4411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2" name="Google Shape;122;p15"/>
          <p:cNvGrpSpPr/>
          <p:nvPr/>
        </p:nvGrpSpPr>
        <p:grpSpPr>
          <a:xfrm>
            <a:off x="1266825" y="3333750"/>
            <a:ext cx="5210175" cy="762000"/>
            <a:chOff x="1266825" y="3333750"/>
            <a:chExt cx="5210175" cy="762000"/>
          </a:xfrm>
        </p:grpSpPr>
        <p:sp>
          <p:nvSpPr>
            <p:cNvPr id="123" name="Google Shape;123;p15"/>
            <p:cNvSpPr txBox="1"/>
            <p:nvPr/>
          </p:nvSpPr>
          <p:spPr>
            <a:xfrm>
              <a:off x="1266825" y="33688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E3A8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 sz="2400">
                <a:solidFill>
                  <a:srgbClr val="1E3A8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4" name="Google Shape;124;p15"/>
            <p:cNvSpPr txBox="1"/>
            <p:nvPr/>
          </p:nvSpPr>
          <p:spPr>
            <a:xfrm>
              <a:off x="1714500" y="3333750"/>
              <a:ext cx="4762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3A8A"/>
                  </a:solidFill>
                  <a:latin typeface="Open Sans"/>
                  <a:ea typeface="Open Sans"/>
                  <a:cs typeface="Open Sans"/>
                  <a:sym typeface="Open Sans"/>
                </a:rPr>
                <a:t>Organisation Agile</a:t>
              </a:r>
              <a:endParaRPr b="1" sz="1800">
                <a:solidFill>
                  <a:srgbClr val="1E3A8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Fonctionnement par projets clients focalisés sur l'audit réseau.</a:t>
              </a:r>
              <a:endParaRPr b="0" sz="14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25" name="Google Shape;125;p15"/>
          <p:cNvGrpSpPr/>
          <p:nvPr/>
        </p:nvGrpSpPr>
        <p:grpSpPr>
          <a:xfrm>
            <a:off x="1266825" y="4476750"/>
            <a:ext cx="5210175" cy="762000"/>
            <a:chOff x="1266825" y="4476750"/>
            <a:chExt cx="5210175" cy="762000"/>
          </a:xfrm>
        </p:grpSpPr>
        <p:sp>
          <p:nvSpPr>
            <p:cNvPr id="126" name="Google Shape;126;p15"/>
            <p:cNvSpPr txBox="1"/>
            <p:nvPr/>
          </p:nvSpPr>
          <p:spPr>
            <a:xfrm>
              <a:off x="1266825" y="45118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E3A8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badge</a:t>
              </a:r>
              <a:endParaRPr sz="2400">
                <a:solidFill>
                  <a:srgbClr val="1E3A8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7" name="Google Shape;127;p15"/>
            <p:cNvSpPr txBox="1"/>
            <p:nvPr/>
          </p:nvSpPr>
          <p:spPr>
            <a:xfrm>
              <a:off x="1714500" y="4476750"/>
              <a:ext cx="4762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3A8A"/>
                  </a:solidFill>
                  <a:latin typeface="Open Sans"/>
                  <a:ea typeface="Open Sans"/>
                  <a:cs typeface="Open Sans"/>
                  <a:sym typeface="Open Sans"/>
                </a:rPr>
                <a:t>Ma Position</a:t>
              </a:r>
              <a:endParaRPr b="1" sz="1800">
                <a:solidFill>
                  <a:srgbClr val="1E3A8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Stagiaire en développement de solutions de gestion internes.</a:t>
              </a:r>
              <a:endParaRPr b="0" sz="14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128" name="Google Shape;128;p15"/>
          <p:cNvPicPr preferRelativeResize="0"/>
          <p:nvPr/>
        </p:nvPicPr>
        <p:blipFill rotWithShape="1">
          <a:blip r:embed="rId4">
            <a:alphaModFix/>
          </a:blip>
          <a:srcRect b="0" l="10197" r="10205" t="0"/>
          <a:stretch/>
        </p:blipFill>
        <p:spPr>
          <a:xfrm>
            <a:off x="6953250" y="3333750"/>
            <a:ext cx="428640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/>
          <p:nvPr/>
        </p:nvSpPr>
        <p:spPr>
          <a:xfrm>
            <a:off x="0" y="0"/>
            <a:ext cx="12192000" cy="38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0" y="3810000"/>
            <a:ext cx="12192000" cy="30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5" name="Google Shape;135;p16"/>
          <p:cNvGrpSpPr/>
          <p:nvPr/>
        </p:nvGrpSpPr>
        <p:grpSpPr>
          <a:xfrm>
            <a:off x="762000" y="571500"/>
            <a:ext cx="2857500" cy="381000"/>
            <a:chOff x="762000" y="571500"/>
            <a:chExt cx="2857500" cy="381000"/>
          </a:xfrm>
        </p:grpSpPr>
        <p:sp>
          <p:nvSpPr>
            <p:cNvPr id="136" name="Google Shape;136;p16"/>
            <p:cNvSpPr/>
            <p:nvPr/>
          </p:nvSpPr>
          <p:spPr>
            <a:xfrm>
              <a:off x="762000" y="571500"/>
              <a:ext cx="2857500" cy="381000"/>
            </a:xfrm>
            <a:prstGeom prst="roundRect">
              <a:avLst>
                <a:gd fmla="val 50000" name="adj"/>
              </a:avLst>
            </a:prstGeom>
            <a:solidFill>
              <a:srgbClr val="EAB30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6"/>
            <p:cNvSpPr txBox="1"/>
            <p:nvPr/>
          </p:nvSpPr>
          <p:spPr>
            <a:xfrm>
              <a:off x="762000" y="57150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3A8A"/>
                  </a:solidFill>
                  <a:latin typeface="Open Sans"/>
                  <a:ea typeface="Open Sans"/>
                  <a:cs typeface="Open Sans"/>
                  <a:sym typeface="Open Sans"/>
                </a:rPr>
                <a:t>STAGE 2 : TCS</a:t>
              </a:r>
              <a:endParaRPr b="1" sz="1400">
                <a:solidFill>
                  <a:srgbClr val="1E3A8A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38" name="Google Shape;138;p16"/>
          <p:cNvSpPr txBox="1"/>
          <p:nvPr/>
        </p:nvSpPr>
        <p:spPr>
          <a:xfrm>
            <a:off x="762000" y="1333500"/>
            <a:ext cx="10668000" cy="83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L'ENCADREMENT</a:t>
            </a:r>
            <a:endParaRPr b="1" sz="5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762000" y="2571750"/>
            <a:ext cx="1143000" cy="762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762000" y="3048000"/>
            <a:ext cx="10668000" cy="3238500"/>
          </a:xfrm>
          <a:prstGeom prst="roundRect">
            <a:avLst>
              <a:gd fmla="val 4411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143000" y="3333750"/>
            <a:ext cx="47625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Gestion du suivi des livrables en mode distanciel.</a:t>
            </a:r>
            <a:endParaRPr b="0" sz="1600">
              <a:solidFill>
                <a:srgbClr val="33415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1143000" y="4095750"/>
            <a:ext cx="47625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75"/>
              </a:spcAft>
              <a:buNone/>
            </a:pPr>
            <a:r>
              <a:rPr b="1" lang="en-US" sz="12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TUTEUR DE STAGE</a:t>
            </a:r>
            <a:endParaRPr b="1" sz="1200">
              <a:solidFill>
                <a:srgbClr val="64748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1143000" y="4381500"/>
            <a:ext cx="4762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E3A8A"/>
                </a:solidFill>
                <a:latin typeface="Open Sans"/>
                <a:ea typeface="Open Sans"/>
                <a:cs typeface="Open Sans"/>
                <a:sym typeface="Open Sans"/>
              </a:rPr>
              <a:t>Mr. Karl KOMBILA</a:t>
            </a:r>
            <a:endParaRPr b="1" sz="3200">
              <a:solidFill>
                <a:srgbClr val="1E3A8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1143000" y="5143500"/>
            <a:ext cx="47625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E3A8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Chef de projet / Consultant</a:t>
            </a:r>
            <a:endParaRPr b="0" sz="1800">
              <a:solidFill>
                <a:srgbClr val="64748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45" name="Google Shape;145;p16"/>
          <p:cNvGrpSpPr/>
          <p:nvPr/>
        </p:nvGrpSpPr>
        <p:grpSpPr>
          <a:xfrm>
            <a:off x="7620000" y="3238500"/>
            <a:ext cx="2857500" cy="2857500"/>
            <a:chOff x="7620000" y="3238500"/>
            <a:chExt cx="2857500" cy="2857500"/>
          </a:xfrm>
        </p:grpSpPr>
        <p:sp>
          <p:nvSpPr>
            <p:cNvPr id="146" name="Google Shape;146;p16"/>
            <p:cNvSpPr/>
            <p:nvPr/>
          </p:nvSpPr>
          <p:spPr>
            <a:xfrm>
              <a:off x="7620000" y="3238500"/>
              <a:ext cx="2857500" cy="28575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7" name="Google Shape;147;p16"/>
            <p:cNvPicPr preferRelativeResize="0"/>
            <p:nvPr/>
          </p:nvPicPr>
          <p:blipFill rotWithShape="1">
            <a:blip r:embed="rId3">
              <a:alphaModFix/>
            </a:blip>
            <a:srcRect b="3332" l="3332" r="3332" t="3332"/>
            <a:stretch/>
          </p:blipFill>
          <p:spPr>
            <a:xfrm>
              <a:off x="7715250" y="3333750"/>
              <a:ext cx="2667000" cy="266700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12192000" cy="38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" name="Google Shape;153;p17"/>
          <p:cNvGrpSpPr/>
          <p:nvPr/>
        </p:nvGrpSpPr>
        <p:grpSpPr>
          <a:xfrm>
            <a:off x="762000" y="571500"/>
            <a:ext cx="2857500" cy="381000"/>
            <a:chOff x="762000" y="571500"/>
            <a:chExt cx="2857500" cy="381000"/>
          </a:xfrm>
        </p:grpSpPr>
        <p:sp>
          <p:nvSpPr>
            <p:cNvPr id="154" name="Google Shape;154;p17"/>
            <p:cNvSpPr/>
            <p:nvPr/>
          </p:nvSpPr>
          <p:spPr>
            <a:xfrm>
              <a:off x="762000" y="571500"/>
              <a:ext cx="2857500" cy="381000"/>
            </a:xfrm>
            <a:prstGeom prst="roundRect">
              <a:avLst>
                <a:gd fmla="val 50000" name="adj"/>
              </a:avLst>
            </a:prstGeom>
            <a:solidFill>
              <a:srgbClr val="EAB30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7"/>
            <p:cNvSpPr txBox="1"/>
            <p:nvPr/>
          </p:nvSpPr>
          <p:spPr>
            <a:xfrm>
              <a:off x="762000" y="57150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3A8A"/>
                  </a:solidFill>
                  <a:latin typeface="Open Sans"/>
                  <a:ea typeface="Open Sans"/>
                  <a:cs typeface="Open Sans"/>
                  <a:sym typeface="Open Sans"/>
                </a:rPr>
                <a:t>STAGE 2 : TCS</a:t>
              </a:r>
              <a:endParaRPr b="1" sz="1400">
                <a:solidFill>
                  <a:srgbClr val="1E3A8A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56" name="Google Shape;156;p17"/>
          <p:cNvSpPr txBox="1"/>
          <p:nvPr/>
        </p:nvSpPr>
        <p:spPr>
          <a:xfrm>
            <a:off x="762000" y="1333500"/>
            <a:ext cx="10668000" cy="83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MISSIONS : TIMESHEET</a:t>
            </a:r>
            <a:endParaRPr b="1" sz="5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762000" y="2571750"/>
            <a:ext cx="1143000" cy="762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762000" y="3048000"/>
            <a:ext cx="10668000" cy="3238500"/>
          </a:xfrm>
          <a:prstGeom prst="roundRect">
            <a:avLst>
              <a:gd fmla="val 4411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9" name="Google Shape;159;p17"/>
          <p:cNvGrpSpPr/>
          <p:nvPr/>
        </p:nvGrpSpPr>
        <p:grpSpPr>
          <a:xfrm>
            <a:off x="1238250" y="3286125"/>
            <a:ext cx="5238750" cy="2190750"/>
            <a:chOff x="1238250" y="3286125"/>
            <a:chExt cx="5238750" cy="2190750"/>
          </a:xfrm>
        </p:grpSpPr>
        <p:grpSp>
          <p:nvGrpSpPr>
            <p:cNvPr id="160" name="Google Shape;160;p17"/>
            <p:cNvGrpSpPr/>
            <p:nvPr/>
          </p:nvGrpSpPr>
          <p:grpSpPr>
            <a:xfrm>
              <a:off x="1238250" y="3286125"/>
              <a:ext cx="5238750" cy="952500"/>
              <a:chOff x="1238250" y="3286125"/>
              <a:chExt cx="5238750" cy="952500"/>
            </a:xfrm>
          </p:grpSpPr>
          <p:sp>
            <p:nvSpPr>
              <p:cNvPr id="161" name="Google Shape;161;p17"/>
              <p:cNvSpPr txBox="1"/>
              <p:nvPr/>
            </p:nvSpPr>
            <p:spPr>
              <a:xfrm>
                <a:off x="1238250" y="336880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1E3A8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assessment</a:t>
                </a:r>
                <a:endParaRPr sz="2400">
                  <a:solidFill>
                    <a:srgbClr val="1E3A8A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62" name="Google Shape;162;p17"/>
              <p:cNvSpPr txBox="1"/>
              <p:nvPr/>
            </p:nvSpPr>
            <p:spPr>
              <a:xfrm>
                <a:off x="1714500" y="3286125"/>
                <a:ext cx="4762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1E3A8A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Application Gestion de Temps</a:t>
                </a:r>
                <a:endParaRPr b="1" sz="1800">
                  <a:solidFill>
                    <a:srgbClr val="1E3A8A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500"/>
                  </a:spcBef>
                  <a:spcAft>
                    <a:spcPts val="0"/>
                  </a:spcAft>
                  <a:buNone/>
                </a:pPr>
                <a:r>
                  <a:rPr b="0" lang="en-US" sz="1400">
                    <a:solidFill>
                      <a:srgbClr val="334155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Développement complet d'une application de </a:t>
                </a:r>
                <a:r>
                  <a:rPr b="1" lang="en-US" sz="1400">
                    <a:solidFill>
                      <a:srgbClr val="334155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Feuille de Temps</a:t>
                </a:r>
                <a:r>
                  <a:rPr b="0" lang="en-US" sz="1400">
                    <a:solidFill>
                      <a:srgbClr val="334155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numérique.</a:t>
                </a:r>
                <a:endParaRPr b="0" sz="14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3" name="Google Shape;163;p17"/>
            <p:cNvGrpSpPr/>
            <p:nvPr/>
          </p:nvGrpSpPr>
          <p:grpSpPr>
            <a:xfrm>
              <a:off x="1238250" y="4524375"/>
              <a:ext cx="5238750" cy="952500"/>
              <a:chOff x="1238250" y="4524375"/>
              <a:chExt cx="5238750" cy="952500"/>
            </a:xfrm>
          </p:grpSpPr>
          <p:sp>
            <p:nvSpPr>
              <p:cNvPr id="164" name="Google Shape;164;p17"/>
              <p:cNvSpPr txBox="1"/>
              <p:nvPr/>
            </p:nvSpPr>
            <p:spPr>
              <a:xfrm>
                <a:off x="1238250" y="460705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1E3A8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description</a:t>
                </a:r>
                <a:endParaRPr sz="2400">
                  <a:solidFill>
                    <a:srgbClr val="1E3A8A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65" name="Google Shape;165;p17"/>
              <p:cNvSpPr txBox="1"/>
              <p:nvPr/>
            </p:nvSpPr>
            <p:spPr>
              <a:xfrm>
                <a:off x="1714500" y="4524375"/>
                <a:ext cx="4762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1E3A8A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Manuel d'Utilisation</a:t>
                </a:r>
                <a:endParaRPr b="1" sz="1800">
                  <a:solidFill>
                    <a:srgbClr val="1E3A8A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500"/>
                  </a:spcBef>
                  <a:spcAft>
                    <a:spcPts val="0"/>
                  </a:spcAft>
                  <a:buNone/>
                </a:pPr>
                <a:r>
                  <a:rPr b="0" lang="en-US" sz="1400">
                    <a:solidFill>
                      <a:srgbClr val="334155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Rédaction de la documentation technique et guide utilisateur de l'application.</a:t>
                </a:r>
                <a:endParaRPr b="0" sz="14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pic>
        <p:nvPicPr>
          <p:cNvPr id="166" name="Google Shape;166;p17"/>
          <p:cNvPicPr preferRelativeResize="0"/>
          <p:nvPr/>
        </p:nvPicPr>
        <p:blipFill rotWithShape="1">
          <a:blip r:embed="rId3">
            <a:alphaModFix/>
          </a:blip>
          <a:srcRect b="3436" l="0" r="0" t="3445"/>
          <a:stretch/>
        </p:blipFill>
        <p:spPr>
          <a:xfrm>
            <a:off x="6707925" y="3240375"/>
            <a:ext cx="4436400" cy="2760300"/>
          </a:xfrm>
          <a:prstGeom prst="roundRect">
            <a:avLst>
              <a:gd fmla="val 535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/>
          <p:nvPr/>
        </p:nvSpPr>
        <p:spPr>
          <a:xfrm>
            <a:off x="0" y="0"/>
            <a:ext cx="12192000" cy="381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0" y="3810000"/>
            <a:ext cx="12192000" cy="30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3" name="Google Shape;173;p18"/>
          <p:cNvGrpSpPr/>
          <p:nvPr/>
        </p:nvGrpSpPr>
        <p:grpSpPr>
          <a:xfrm>
            <a:off x="762000" y="571500"/>
            <a:ext cx="2857500" cy="381000"/>
            <a:chOff x="762000" y="571500"/>
            <a:chExt cx="2857500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00" y="571500"/>
              <a:ext cx="2857500" cy="381000"/>
            </a:xfrm>
            <a:prstGeom prst="roundRect">
              <a:avLst>
                <a:gd fmla="val 50000" name="adj"/>
              </a:avLst>
            </a:prstGeom>
            <a:solidFill>
              <a:srgbClr val="EAB30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8"/>
            <p:cNvSpPr txBox="1"/>
            <p:nvPr/>
          </p:nvSpPr>
          <p:spPr>
            <a:xfrm>
              <a:off x="762000" y="57150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3A8A"/>
                  </a:solidFill>
                  <a:latin typeface="Open Sans"/>
                  <a:ea typeface="Open Sans"/>
                  <a:cs typeface="Open Sans"/>
                  <a:sym typeface="Open Sans"/>
                </a:rPr>
                <a:t>BILAN &amp; PERSPECTIVES</a:t>
              </a:r>
              <a:endParaRPr b="1" sz="1400">
                <a:solidFill>
                  <a:srgbClr val="1E3A8A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76" name="Google Shape;176;p18"/>
          <p:cNvSpPr txBox="1"/>
          <p:nvPr/>
        </p:nvSpPr>
        <p:spPr>
          <a:xfrm>
            <a:off x="762000" y="1333500"/>
            <a:ext cx="10668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92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 b="1" sz="592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762000" y="2571750"/>
            <a:ext cx="1143000" cy="762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762000" y="3048000"/>
            <a:ext cx="10668000" cy="3238500"/>
          </a:xfrm>
          <a:prstGeom prst="roundRect">
            <a:avLst>
              <a:gd fmla="val 470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9" name="Google Shape;179;p18"/>
          <p:cNvGrpSpPr/>
          <p:nvPr/>
        </p:nvGrpSpPr>
        <p:grpSpPr>
          <a:xfrm>
            <a:off x="1143000" y="3333750"/>
            <a:ext cx="5524500" cy="952500"/>
            <a:chOff x="1143000" y="3333750"/>
            <a:chExt cx="5524500" cy="952500"/>
          </a:xfrm>
        </p:grpSpPr>
        <p:sp>
          <p:nvSpPr>
            <p:cNvPr id="180" name="Google Shape;180;p18"/>
            <p:cNvSpPr txBox="1"/>
            <p:nvPr/>
          </p:nvSpPr>
          <p:spPr>
            <a:xfrm>
              <a:off x="1143000" y="3475736"/>
              <a:ext cx="4572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60">
                  <a:solidFill>
                    <a:srgbClr val="EAB30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2960">
                <a:solidFill>
                  <a:srgbClr val="EAB30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1" name="Google Shape;181;p18"/>
            <p:cNvSpPr txBox="1"/>
            <p:nvPr/>
          </p:nvSpPr>
          <p:spPr>
            <a:xfrm>
              <a:off x="1714500" y="3333750"/>
              <a:ext cx="4953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E3A8A"/>
                  </a:solidFill>
                  <a:latin typeface="Open Sans"/>
                  <a:ea typeface="Open Sans"/>
                  <a:cs typeface="Open Sans"/>
                  <a:sym typeface="Open Sans"/>
                </a:rPr>
                <a:t>Objectifs Atteints</a:t>
              </a:r>
              <a:endParaRPr b="1" sz="2000">
                <a:solidFill>
                  <a:srgbClr val="1E3A8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Création d’une solution logicielle pour une entreprise.</a:t>
              </a:r>
              <a:endParaRPr b="0" sz="14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82" name="Google Shape;182;p18"/>
          <p:cNvGrpSpPr/>
          <p:nvPr/>
        </p:nvGrpSpPr>
        <p:grpSpPr>
          <a:xfrm>
            <a:off x="1143000" y="4572000"/>
            <a:ext cx="5524500" cy="1143000"/>
            <a:chOff x="1143000" y="4572000"/>
            <a:chExt cx="5524500" cy="1143000"/>
          </a:xfrm>
        </p:grpSpPr>
        <p:sp>
          <p:nvSpPr>
            <p:cNvPr id="183" name="Google Shape;183;p18"/>
            <p:cNvSpPr txBox="1"/>
            <p:nvPr/>
          </p:nvSpPr>
          <p:spPr>
            <a:xfrm>
              <a:off x="1143000" y="4713986"/>
              <a:ext cx="4572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60">
                  <a:solidFill>
                    <a:srgbClr val="EAB30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school</a:t>
              </a:r>
              <a:endParaRPr sz="2960">
                <a:solidFill>
                  <a:srgbClr val="EAB30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4" name="Google Shape;184;p18"/>
            <p:cNvSpPr txBox="1"/>
            <p:nvPr/>
          </p:nvSpPr>
          <p:spPr>
            <a:xfrm>
              <a:off x="1714500" y="4572000"/>
              <a:ext cx="4953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E3A8A"/>
                  </a:solidFill>
                  <a:latin typeface="Open Sans"/>
                  <a:ea typeface="Open Sans"/>
                  <a:cs typeface="Open Sans"/>
                  <a:sym typeface="Open Sans"/>
                </a:rPr>
                <a:t>Poursuite d'études</a:t>
              </a:r>
              <a:endParaRPr b="1" sz="2000">
                <a:solidFill>
                  <a:srgbClr val="1E3A8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Vers une Licence Pro ou un Bachelor en développement web.</a:t>
              </a:r>
              <a:endParaRPr b="0" sz="14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185" name="Google Shape;1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3643" y="3073763"/>
            <a:ext cx="4723746" cy="3153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/>
          <p:cNvPicPr preferRelativeResize="0"/>
          <p:nvPr/>
        </p:nvPicPr>
        <p:blipFill rotWithShape="1">
          <a:blip r:embed="rId3">
            <a:alphaModFix/>
          </a:blip>
          <a:srcRect b="3183" l="0" r="0" t="3193"/>
          <a:stretch/>
        </p:blipFill>
        <p:spPr>
          <a:xfrm>
            <a:off x="6667500" y="3238500"/>
            <a:ext cx="4572000" cy="28575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19"/>
          <p:cNvGrpSpPr/>
          <p:nvPr/>
        </p:nvGrpSpPr>
        <p:grpSpPr>
          <a:xfrm>
            <a:off x="-476250" y="-1428750"/>
            <a:ext cx="14287500" cy="9048750"/>
            <a:chOff x="-476250" y="-1428750"/>
            <a:chExt cx="14287500" cy="9048750"/>
          </a:xfrm>
        </p:grpSpPr>
        <p:sp>
          <p:nvSpPr>
            <p:cNvPr id="192" name="Google Shape;192;p19"/>
            <p:cNvSpPr/>
            <p:nvPr/>
          </p:nvSpPr>
          <p:spPr>
            <a:xfrm>
              <a:off x="9048750" y="-1428750"/>
              <a:ext cx="4762500" cy="4762500"/>
            </a:xfrm>
            <a:prstGeom prst="ellipse">
              <a:avLst/>
            </a:prstGeom>
            <a:solidFill>
              <a:srgbClr val="EAB308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9"/>
            <p:cNvSpPr/>
            <p:nvPr/>
          </p:nvSpPr>
          <p:spPr>
            <a:xfrm>
              <a:off x="-476250" y="4762500"/>
              <a:ext cx="2857500" cy="2857500"/>
            </a:xfrm>
            <a:prstGeom prst="ellipse">
              <a:avLst/>
            </a:prstGeom>
            <a:solidFill>
              <a:srgbClr val="EAB308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" name="Google Shape;194;p19"/>
          <p:cNvGrpSpPr/>
          <p:nvPr/>
        </p:nvGrpSpPr>
        <p:grpSpPr>
          <a:xfrm>
            <a:off x="4667250" y="1714500"/>
            <a:ext cx="2857500" cy="381000"/>
            <a:chOff x="4667250" y="1714500"/>
            <a:chExt cx="2857500" cy="381000"/>
          </a:xfrm>
        </p:grpSpPr>
        <p:sp>
          <p:nvSpPr>
            <p:cNvPr id="195" name="Google Shape;195;p19"/>
            <p:cNvSpPr/>
            <p:nvPr/>
          </p:nvSpPr>
          <p:spPr>
            <a:xfrm>
              <a:off x="4667250" y="1714500"/>
              <a:ext cx="2857500" cy="381000"/>
            </a:xfrm>
            <a:prstGeom prst="roundRect">
              <a:avLst>
                <a:gd fmla="val 50000" name="adj"/>
              </a:avLst>
            </a:prstGeom>
            <a:solidFill>
              <a:srgbClr val="EAB30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9"/>
            <p:cNvSpPr txBox="1"/>
            <p:nvPr/>
          </p:nvSpPr>
          <p:spPr>
            <a:xfrm>
              <a:off x="4667250" y="1714500"/>
              <a:ext cx="2857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3A8A"/>
                  </a:solidFill>
                  <a:latin typeface="Open Sans"/>
                  <a:ea typeface="Open Sans"/>
                  <a:cs typeface="Open Sans"/>
                  <a:sym typeface="Open Sans"/>
                </a:rPr>
                <a:t>FIN DE PRÉSENTATION</a:t>
              </a:r>
              <a:endParaRPr b="1" sz="1400">
                <a:solidFill>
                  <a:srgbClr val="1E3A8A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97" name="Google Shape;197;p19"/>
          <p:cNvSpPr txBox="1"/>
          <p:nvPr/>
        </p:nvSpPr>
        <p:spPr>
          <a:xfrm>
            <a:off x="762000" y="2381250"/>
            <a:ext cx="106680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MERCI DE VOTRE ATTENTION</a:t>
            </a:r>
            <a:endParaRPr b="1" sz="544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5143500" y="4000500"/>
            <a:ext cx="1905000" cy="762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