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Open Sans SemiBold"/>
      <p:regular r:id="rId12"/>
      <p:bold r:id="rId13"/>
      <p:italic r:id="rId14"/>
      <p:boldItalic r:id="rId15"/>
    </p:embeddedFont>
    <p:embeddedFont>
      <p:font typeface="Open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OpenSansSemiBold-bold.fntdata"/><Relationship Id="rId12" Type="http://schemas.openxmlformats.org/officeDocument/2006/relationships/font" Target="fonts/OpenSans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SemiBold-boldItalic.fntdata"/><Relationship Id="rId14" Type="http://schemas.openxmlformats.org/officeDocument/2006/relationships/font" Target="fonts/OpenSansSemiBold-italic.fntdata"/><Relationship Id="rId17" Type="http://schemas.openxmlformats.org/officeDocument/2006/relationships/font" Target="fonts/OpenSans-bold.fntdata"/><Relationship Id="rId16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Italic.fntdata"/><Relationship Id="rId6" Type="http://schemas.openxmlformats.org/officeDocument/2006/relationships/slide" Target="slides/slide1.xml"/><Relationship Id="rId18" Type="http://schemas.openxmlformats.org/officeDocument/2006/relationships/font" Target="fonts/Open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9" Type="http://schemas.openxmlformats.org/officeDocument/2006/relationships/image" Target="../media/image16.jpg"/><Relationship Id="rId5" Type="http://schemas.openxmlformats.org/officeDocument/2006/relationships/image" Target="../media/image13.png"/><Relationship Id="rId6" Type="http://schemas.openxmlformats.org/officeDocument/2006/relationships/image" Target="../media/image15.jpg"/><Relationship Id="rId7" Type="http://schemas.openxmlformats.org/officeDocument/2006/relationships/image" Target="../media/image5.jpg"/><Relationship Id="rId8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5" Type="http://schemas.openxmlformats.org/officeDocument/2006/relationships/image" Target="../media/image1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1709737"/>
            <a:ext cx="11049000" cy="4000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952500" y="1804987"/>
            <a:ext cx="10668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SOUTENANCE E5 - BTS SIO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2300287"/>
            <a:ext cx="11430000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PRÉSENTATION DES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125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 STAGES PRATIQUES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833812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3A8A"/>
                </a:solidFill>
                <a:latin typeface="Open Sans"/>
                <a:ea typeface="Open Sans"/>
                <a:cs typeface="Open Sans"/>
                <a:sym typeface="Open Sans"/>
              </a:rPr>
              <a:t>Jonathan Dieudonné MOUELE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4348162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Stage 1 : Épargne &amp; Développement du Gabon (EDG)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905125"/>
            <a:ext cx="61722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771900"/>
            <a:ext cx="61722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762000" y="1447800"/>
            <a:ext cx="6172200" cy="40005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952500" y="1543050"/>
            <a:ext cx="5791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STAGE 1 : MICROFINANCE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762000" y="2038350"/>
            <a:ext cx="648081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FICHE D'IDENTITÉ : EDG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762000" y="2543175"/>
            <a:ext cx="6172200" cy="285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4638675"/>
            <a:ext cx="61722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EDG</a:t>
            </a:r>
            <a:r>
              <a:rPr b="0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est un acteur historique de la microfinance au Gabon.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5024437"/>
            <a:ext cx="61722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425" u="none" cap="none" strike="noStrike">
                <a:solidFill>
                  <a:srgbClr val="EAB308"/>
                </a:solidFill>
                <a:latin typeface="Open Sans"/>
                <a:ea typeface="Open Sans"/>
                <a:cs typeface="Open Sans"/>
                <a:sym typeface="Open Sans"/>
              </a:rPr>
              <a:t>"Votre partenaire N°1 du Développement"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00125" y="3048000"/>
            <a:ext cx="57435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CRÉATION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00125" y="3228975"/>
            <a:ext cx="5743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Open Sans"/>
                <a:ea typeface="Open Sans"/>
                <a:cs typeface="Open Sans"/>
                <a:sym typeface="Open Sans"/>
              </a:rPr>
              <a:t>2009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00125" y="3914775"/>
            <a:ext cx="57435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CAPITAL SOCIAL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00125" y="4095750"/>
            <a:ext cx="5743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3A8A"/>
                </a:solidFill>
                <a:latin typeface="Open Sans"/>
                <a:ea typeface="Open Sans"/>
                <a:cs typeface="Open Sans"/>
                <a:sym typeface="Open Sans"/>
              </a:rPr>
              <a:t>1 099 000 000 FCFA (1 675 414 €)</a:t>
            </a:r>
            <a:endParaRPr/>
          </a:p>
        </p:txBody>
      </p:sp>
      <p:pic>
        <p:nvPicPr>
          <p:cNvPr id="105" name="Google Shape;10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21949" y="2183663"/>
            <a:ext cx="3708050" cy="24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0" y="1619250"/>
            <a:ext cx="41148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762000" y="1962150"/>
            <a:ext cx="648081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STRUCTURE &amp; POSITION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762000" y="2466975"/>
            <a:ext cx="6172200" cy="285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8558212" y="3257550"/>
            <a:ext cx="162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[ Organigramme EDG]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924175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1228725" y="2828925"/>
            <a:ext cx="567070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Pôle Support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228725" y="3238500"/>
            <a:ext cx="54006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Directions Administrative, Financière et Système d'Information.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957637"/>
            <a:ext cx="3143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1266825" y="3862387"/>
            <a:ext cx="579072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Ma Position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266825" y="4271962"/>
            <a:ext cx="55149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Stage réalisé au sein du </a:t>
            </a:r>
            <a:r>
              <a:rPr b="1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Service DSI</a:t>
            </a:r>
            <a:r>
              <a:rPr b="0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(Support &amp; Développement).</a:t>
            </a:r>
            <a:endParaRPr/>
          </a:p>
        </p:txBody>
      </p:sp>
      <p:pic>
        <p:nvPicPr>
          <p:cNvPr id="120" name="Google Shape;120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42800" y="1619250"/>
            <a:ext cx="4323274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251750" y="4908950"/>
            <a:ext cx="314325" cy="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7150" y="1725959"/>
            <a:ext cx="123825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9800" y="1725959"/>
            <a:ext cx="123825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77150" y="3524250"/>
            <a:ext cx="123825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29800" y="3524250"/>
            <a:ext cx="1238250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762000" y="1983581"/>
            <a:ext cx="648081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L'ÉQUIPE DSI (EDG)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762000" y="2488406"/>
            <a:ext cx="6172200" cy="285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762000" y="2850356"/>
            <a:ext cx="61722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Mon stage s'est déroulé au sein d'une équipe structurée de 4 experts :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762000" y="3331368"/>
            <a:ext cx="61722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Nestor TCHIMINA</a:t>
            </a:r>
            <a:r>
              <a:rPr b="0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(Directeur)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762000" y="3717131"/>
            <a:ext cx="61722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Vinny MAYOMBO</a:t>
            </a:r>
            <a:r>
              <a:rPr b="0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(Tuteur)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62000" y="4102893"/>
            <a:ext cx="61722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Chancel MBA NDONG</a:t>
            </a:r>
            <a:r>
              <a:rPr b="0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(Employé)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62000" y="4488656"/>
            <a:ext cx="61722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Steve MOMBO</a:t>
            </a:r>
            <a:r>
              <a:rPr b="0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(Adjoint)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7877175" y="3059459"/>
            <a:ext cx="838200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N. TCHIMINA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0015537" y="3059459"/>
            <a:ext cx="86677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V. MAYOMBO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7796212" y="4857750"/>
            <a:ext cx="100012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C. MBA NDONG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10101262" y="4857750"/>
            <a:ext cx="695325" cy="15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S. MOMBO</a:t>
            </a:r>
            <a:endParaRPr/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374231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759993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145756"/>
            <a:ext cx="1619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531518"/>
            <a:ext cx="1619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8139112" y="2145059"/>
            <a:ext cx="3144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6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Photo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50" u="none" cap="none" strike="noStrike">
                <a:solidFill>
                  <a:srgbClr val="94A3B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Netor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0315575" y="2145059"/>
            <a:ext cx="266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6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Photo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50" u="none" cap="none" strike="noStrike">
                <a:solidFill>
                  <a:srgbClr val="94A3B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Vinny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115300" y="3943350"/>
            <a:ext cx="361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6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Photo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50" u="none" cap="none" strike="noStrike">
                <a:solidFill>
                  <a:srgbClr val="94A3B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Chancel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0315575" y="3943350"/>
            <a:ext cx="2667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6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Photo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750" u="none" cap="none" strike="noStrike">
                <a:solidFill>
                  <a:srgbClr val="94A3B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Stev</a:t>
            </a:r>
            <a:endParaRPr/>
          </a:p>
        </p:txBody>
      </p:sp>
      <p:pic>
        <p:nvPicPr>
          <p:cNvPr id="149" name="Google Shape;14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55753" y="1882311"/>
            <a:ext cx="8382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82200" y="1887850"/>
            <a:ext cx="800100" cy="8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15907" y="3744638"/>
            <a:ext cx="838200" cy="837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82199" y="3710575"/>
            <a:ext cx="678398" cy="905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/>
        </p:nvSpPr>
        <p:spPr>
          <a:xfrm>
            <a:off x="762000" y="1690687"/>
            <a:ext cx="648081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MISSIONS RÉALISÉES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762000" y="2195512"/>
            <a:ext cx="6172200" cy="285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8301037" y="3257550"/>
            <a:ext cx="2143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[ Capture Outils Python/PHP ]</a:t>
            </a:r>
            <a:endParaRPr/>
          </a:p>
        </p:txBody>
      </p:sp>
      <p:pic>
        <p:nvPicPr>
          <p:cNvPr descr="image.png" id="160" name="Google Shape;1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652712"/>
            <a:ext cx="3143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1266825" y="2557462"/>
            <a:ext cx="595074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Développement Web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1266825" y="2967037"/>
            <a:ext cx="56673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Stack Python &amp; PHP. Conception d'outils internes et interfaces modernes.</a:t>
            </a:r>
            <a:endParaRPr/>
          </a:p>
        </p:txBody>
      </p:sp>
      <p:pic>
        <p:nvPicPr>
          <p:cNvPr descr="image.png" id="163" name="Google Shape;16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957637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1200150" y="3862387"/>
            <a:ext cx="602075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3A8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Maintenance &amp; Support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1200150" y="4271962"/>
            <a:ext cx="57340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Résolution de tickets d'assistance informatique et support utilisateur.</a:t>
            </a:r>
            <a:endParaRPr/>
          </a:p>
        </p:txBody>
      </p:sp>
      <p:pic>
        <p:nvPicPr>
          <p:cNvPr id="166" name="Google Shape;16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99675" y="1838475"/>
            <a:ext cx="4783901" cy="340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 txBox="1"/>
          <p:nvPr/>
        </p:nvSpPr>
        <p:spPr>
          <a:xfrm>
            <a:off x="762000" y="2405062"/>
            <a:ext cx="648081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CADRE DE TRAVAIL</a:t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762000" y="2909887"/>
            <a:ext cx="6172200" cy="285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762000" y="3271837"/>
            <a:ext cx="648081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AB30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BLAB Maanda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762000" y="3681412"/>
            <a:ext cx="61722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Travail collaboratif en présentiel au bureau principal de la DSI.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762000" y="4067175"/>
            <a:ext cx="6172200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Encadrement 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Suivi quotidien et feedbacks techniques par Mr. Vinny.</a:t>
            </a:r>
            <a:endParaRPr/>
          </a:p>
        </p:txBody>
      </p:sp>
      <p:pic>
        <p:nvPicPr>
          <p:cNvPr descr="image.png" id="176" name="Google Shape;17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319462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42800" y="2278249"/>
            <a:ext cx="4493499" cy="2960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